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3F6FC"/>
                </a:solidFill>
              </a:rPr>
              <a:t>ShelfSense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BCC6D8"/>
                </a:solidFill>
              </a:rPr>
              <a:t>Autonomous retail friction detection, root-cause intelligence, and self-optimization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40280"/>
            <a:ext cx="10972800" cy="2743200"/>
          </a:xfrm>
          <a:prstGeom prst="rect">
            <a:avLst/>
          </a:prstGeom>
          <a:solidFill>
            <a:srgbClr val="1A263C"/>
          </a:solidFill>
          <a:ln>
            <a:solidFill>
              <a:srgbClr val="00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3F6FC"/>
                </a:solidFill>
              </a:defRPr>
            </a:pPr>
            <a:r>
              <a:t>Partner Tools Used</a:t>
            </a:r>
          </a:p>
          <a:p>
            <a:pPr>
              <a:defRPr sz="1900">
                <a:solidFill>
                  <a:srgbClr val="BCC6D8"/>
                </a:solidFill>
              </a:defRPr>
            </a:pPr>
            <a:r>
              <a:t>Google DeepMind Gemini: micro-decisions + root-cause reasoning</a:t>
            </a:r>
          </a:p>
          <a:p>
            <a:pPr>
              <a:defRPr sz="1900">
                <a:solidFill>
                  <a:srgbClr val="BCC6D8"/>
                </a:solidFill>
              </a:defRPr>
            </a:pPr>
            <a:r>
              <a:t>Braintrust: evaluation, scoring, safety checks, optimization feedback loop</a:t>
            </a:r>
          </a:p>
          <a:p>
            <a:pPr>
              <a:defRPr sz="1900">
                <a:solidFill>
                  <a:srgbClr val="BCC6D8"/>
                </a:solidFill>
              </a:defRPr>
            </a:pPr>
            <a:r>
              <a:t>Modulate: voice alerts for Decision + RCI outputs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FB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3F6FC"/>
                </a:solidFill>
              </a:rPr>
              <a:t>What It Solves In The Real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F3F6FC"/>
                </a:solidFill>
              </a:defRPr>
            </a:pPr>
            <a:r>
              <a:t>Shoppers get stuck in aisles and leave without help.</a:t>
            </a:r>
          </a:p>
          <a:p>
            <a:pPr>
              <a:spcAft>
                <a:spcPts val="1000"/>
              </a:spcAft>
              <a:defRPr sz="2300">
                <a:solidFill>
                  <a:srgbClr val="F3F6FC"/>
                </a:solidFill>
              </a:defRPr>
            </a:pPr>
            <a:r>
              <a:t>Store teams miss friction moments when staffing is tight.</a:t>
            </a:r>
          </a:p>
          <a:p>
            <a:pPr>
              <a:spcAft>
                <a:spcPts val="1000"/>
              </a:spcAft>
              <a:defRPr sz="2300">
                <a:solidFill>
                  <a:srgbClr val="F3F6FC"/>
                </a:solidFill>
              </a:defRPr>
            </a:pPr>
            <a:r>
              <a:t>Static rule systems create alert fatigue and low trust.</a:t>
            </a:r>
          </a:p>
          <a:p>
            <a:pPr>
              <a:spcAft>
                <a:spcPts val="1000"/>
              </a:spcAft>
              <a:defRPr sz="2300">
                <a:solidFill>
                  <a:srgbClr val="F3F6FC"/>
                </a:solidFill>
              </a:defRPr>
            </a:pPr>
            <a:r>
              <a:t>ShelfSense closes the loop: detect -&gt; decide -&gt; evaluate -&gt; optimize.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1645920"/>
            <a:ext cx="3383280" cy="4297680"/>
          </a:xfrm>
          <a:prstGeom prst="rect">
            <a:avLst/>
          </a:prstGeom>
          <a:solidFill>
            <a:srgbClr val="1D2B44"/>
          </a:solidFill>
          <a:ln>
            <a:solidFill>
              <a:srgbClr val="FFB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F3F6FC"/>
                </a:solidFill>
              </a:rPr>
              <a:t>Business Impact</a:t>
            </a:r>
          </a:p>
          <a:p>
            <a:pPr>
              <a:defRPr sz="1700">
                <a:solidFill>
                  <a:srgbClr val="BCC6D8"/>
                </a:solidFill>
              </a:defRPr>
            </a:pPr>
            <a:r>
              <a:t>Faster assistance</a:t>
            </a:r>
          </a:p>
          <a:p>
            <a:pPr>
              <a:defRPr sz="1700">
                <a:solidFill>
                  <a:srgbClr val="BCC6D8"/>
                </a:solidFill>
              </a:defRPr>
            </a:pPr>
            <a:r>
              <a:t>Fewer false alerts over time</a:t>
            </a:r>
          </a:p>
          <a:p>
            <a:pPr>
              <a:defRPr sz="1700">
                <a:solidFill>
                  <a:srgbClr val="BCC6D8"/>
                </a:solidFill>
              </a:defRPr>
            </a:pPr>
            <a:r>
              <a:t>Better conversion in high-friction zones</a:t>
            </a:r>
          </a:p>
          <a:p>
            <a:pPr>
              <a:defRPr sz="1700">
                <a:solidFill>
                  <a:srgbClr val="BCC6D8"/>
                </a:solidFill>
              </a:defRPr>
            </a:pPr>
            <a:r>
              <a:t>Actionable operational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3F6FC"/>
                </a:solidFill>
              </a:rPr>
              <a:t>System Architecture (with Partner Tools)</a:t>
            </a:r>
          </a:p>
        </p:txBody>
      </p:sp>
      <p:pic>
        <p:nvPicPr>
          <p:cNvPr id="4" name="Picture 3" descr="shelfsense_agent_arch_with_modu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188720"/>
            <a:ext cx="3566159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FB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3F6FC"/>
                </a:solidFill>
              </a:rPr>
              <a:t>Agent Flow &amp; Runtime View</a:t>
            </a:r>
          </a:p>
        </p:txBody>
      </p:sp>
      <p:pic>
        <p:nvPicPr>
          <p:cNvPr id="4" name="Picture 3" descr="ChatGPT Image Feb 21, 2026 at 12_24_41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0" y="1143000"/>
            <a:ext cx="359664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641080" y="1325880"/>
            <a:ext cx="2926080" cy="5029200"/>
          </a:xfrm>
          <a:prstGeom prst="rect">
            <a:avLst/>
          </a:prstGeom>
          <a:solidFill>
            <a:srgbClr val="1F2D46"/>
          </a:solidFill>
          <a:ln>
            <a:solidFill>
              <a:srgbClr val="FFB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F3F6FC"/>
                </a:solidFill>
              </a:rPr>
              <a:t>Live Outcomes</a:t>
            </a:r>
          </a:p>
          <a:p>
            <a:pPr>
              <a:defRPr sz="1500">
                <a:solidFill>
                  <a:srgbClr val="BCC6D8"/>
                </a:solidFill>
              </a:defRPr>
            </a:pPr>
            <a:r>
              <a:t>Decision alert appears on dashboard</a:t>
            </a:r>
          </a:p>
          <a:p>
            <a:pPr>
              <a:defRPr sz="1500">
                <a:solidFill>
                  <a:srgbClr val="BCC6D8"/>
                </a:solidFill>
              </a:defRPr>
            </a:pPr>
            <a:r>
              <a:t>RCI recommendation appears on cluster</a:t>
            </a:r>
          </a:p>
          <a:p>
            <a:pPr>
              <a:defRPr sz="1500">
                <a:solidFill>
                  <a:srgbClr val="BCC6D8"/>
                </a:solidFill>
              </a:defRPr>
            </a:pPr>
            <a:r>
              <a:t>Braintrust logs score breakdown</a:t>
            </a:r>
          </a:p>
          <a:p>
            <a:pPr>
              <a:defRPr sz="1500">
                <a:solidFill>
                  <a:srgbClr val="BCC6D8"/>
                </a:solidFill>
              </a:defRPr>
            </a:pPr>
            <a:r>
              <a:t>Policy version increments over runs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3F6FC"/>
                </a:solidFill>
              </a:rPr>
              <a:t>Why ShelfSense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F3F6FC"/>
                </a:solidFill>
              </a:defRPr>
            </a:pPr>
            <a:r>
              <a:t>Autonomous loop: perception -&gt; decision -&gt; evaluation -&gt; optimization</a:t>
            </a:r>
          </a:p>
          <a:p>
            <a:pPr>
              <a:spcAft>
                <a:spcPts val="1000"/>
              </a:spcAft>
              <a:defRPr sz="2300">
                <a:solidFill>
                  <a:srgbClr val="F3F6FC"/>
                </a:solidFill>
              </a:defRPr>
            </a:pPr>
            <a:r>
              <a:t>Privacy-first operations intelligence for physical retail</a:t>
            </a:r>
          </a:p>
          <a:p>
            <a:pPr>
              <a:spcAft>
                <a:spcPts val="1000"/>
              </a:spcAft>
              <a:defRPr sz="2300">
                <a:solidFill>
                  <a:srgbClr val="F3F6FC"/>
                </a:solidFill>
              </a:defRPr>
            </a:pPr>
            <a:r>
              <a:t>Built for practical rollout on existing camera infrastructure</a:t>
            </a:r>
          </a:p>
          <a:p>
            <a:pPr>
              <a:spcAft>
                <a:spcPts val="1000"/>
              </a:spcAft>
              <a:defRPr sz="2300">
                <a:solidFill>
                  <a:srgbClr val="F3F6FC"/>
                </a:solidFill>
              </a:defRPr>
            </a:pPr>
            <a:r>
              <a:t>Measurable outcomes: reduced false alerts + improved assist response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